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8286-D2A1-794E-D702-05CCD54A2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AF37A-B676-1695-85AE-382E8E725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8A216-2612-8D74-42BF-AA330FA7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107F7-5105-13B8-BE44-6A9469A5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F7193-180A-CD45-B290-55387BD1D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51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BF79C-3A22-DF82-925F-4E972E67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7B23C-BD9B-0681-DF29-2517A66B7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8CA1-29DD-C022-2810-0D472970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DD0C6-8431-07A7-12CC-1D827F24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41896-F25D-A648-27FF-94DDA807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50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E262-88E8-82F1-604A-63F11F85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7F413-9578-1825-63BE-1C467196B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934C-6794-672E-1825-4B7D3B02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3B19-E263-07F5-B7CD-2ECA69A3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00F18-993E-F029-6B3F-2F227CAC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5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ACB49-AF59-BAD3-1ED5-8C17EC3E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58B9-9FBA-41F6-C49B-E66333C92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1D8B2-CB46-4107-9936-CD9D13518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D2F0E-C50A-3B21-5C30-E7515942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9F402-90D8-60E4-22F8-D25AA8DC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91B62-5389-C787-FA0E-A83A144A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48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E8DE-259A-211C-87F8-A401F151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1EAB5-3EB3-05F4-CB9D-8A052A455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15B2B-0C3B-2AF9-382A-38C2413D4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937E25-8F29-49FE-691F-BC7D783FC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A3C19-3AC6-C82C-33B8-C3A6C608A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8A70A7-5956-7292-A584-5797113B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5FE15-EAA5-B30A-6693-177FBC7E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9D6A04-7A4F-999D-70D9-68237805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73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7306-F63C-E56D-E80F-AFF3E7DB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18B22-585D-8A2A-2C88-EAF37AA7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FBD64-5792-73C6-2F43-E0B38848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14A4-60AC-78AD-090A-ED380073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84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13440-ECE3-34DB-E7AF-0CB78559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403FBE-053B-699A-5C09-C43901C8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F9727-FA7A-C92D-59F7-FA8E658F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2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7100-8B18-9CAA-1E2E-8A8D7BB6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43151-A092-5F84-C5B0-92B45964F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DAB65-571A-AF31-D394-7CA5DCF97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EE0A2-E208-2963-F3C1-55027E8D5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95F33-1ED6-9EDD-9E5F-033E3AE7A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2DF92-DC2A-F90E-914C-E3C2F896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9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C0CD-1F9A-0A45-E387-6317CA8FD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62B00-1EB6-1A7E-6EBF-22CA84596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2D91D-D8BD-DA47-9889-D4CF9C6F6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FE433-4333-477B-5AA6-F4F59DA9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FB3FF-EFA8-084D-C6C4-D67BA79D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93D8B-7B0F-00AD-DBF6-F210A5A1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FD14-B44E-CB19-AFB4-0C12C914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20DDE-FB65-8CB8-2252-305515995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B4DF8-11FE-FCE3-F1C4-F1682D95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20677-1A69-7CCC-FD40-48EB3849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5EF5A-6AEE-1207-9EBB-09FDE815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30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0193B-3128-84B2-37B1-5F9590905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DACF6-3D84-D8FC-4FC0-5E4E77852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88D4E-C5AF-F1D6-5C55-C7CA7721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82FEB-9122-1C72-04AF-88EA7D60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85A3D-8AE3-6BCE-1A5F-8020BDA4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55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47951-2127-C502-C260-42DC32A5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3EA5B-966F-3831-46CB-C45633119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B40E4-B631-E309-47C6-6BAB7B1F6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AB17A-5695-4DBE-86AC-5D581218B573}" type="datetimeFigureOut">
              <a:rPr lang="en-GB" smtClean="0"/>
              <a:t>03/10/2026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7F35E-4322-EF53-5B29-A4833D58D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1281B-9D8A-4D29-AA43-A366D1F07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54E13E-B9DA-4BF4-ABAB-A96DCE887C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208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D27118-95B1-D067-A270-FFCDFBFB9A62}"/>
              </a:ext>
            </a:extLst>
          </p:cNvPr>
          <p:cNvSpPr txBox="1"/>
          <p:nvPr/>
        </p:nvSpPr>
        <p:spPr>
          <a:xfrm>
            <a:off x="273396" y="144839"/>
            <a:ext cx="11342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STRUCTURED EQUITY DERIVATIVES – EQUITY COLLAR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E6CBA-3A90-CA95-7EE6-8F55BDBE1D77}"/>
              </a:ext>
            </a:extLst>
          </p:cNvPr>
          <p:cNvSpPr txBox="1"/>
          <p:nvPr/>
        </p:nvSpPr>
        <p:spPr>
          <a:xfrm>
            <a:off x="127481" y="1047259"/>
            <a:ext cx="4648799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GB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Generate underlying asset price path as a Geometric Brownian Motion process.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0920C-32AC-BF6A-634D-F8BEDB95CCF0}"/>
              </a:ext>
            </a:extLst>
          </p:cNvPr>
          <p:cNvSpPr txBox="1"/>
          <p:nvPr/>
        </p:nvSpPr>
        <p:spPr>
          <a:xfrm>
            <a:off x="5765260" y="1047259"/>
            <a:ext cx="5570283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GB" sz="16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Then the daily returns to both the Put and Call option positions, and their combined running profit.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91E460-36A6-D925-8998-FBF27F88E469}"/>
              </a:ext>
            </a:extLst>
          </p:cNvPr>
          <p:cNvCxnSpPr/>
          <p:nvPr/>
        </p:nvCxnSpPr>
        <p:spPr>
          <a:xfrm>
            <a:off x="273396" y="865762"/>
            <a:ext cx="11176059" cy="0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4BFD941-468F-1B85-341C-6227246BC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53" y="1689743"/>
            <a:ext cx="3831853" cy="20254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80D07A-E031-4A0B-BECC-D6EFA2079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68" y="1749784"/>
            <a:ext cx="3694991" cy="19053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66F139F-62B3-6B43-8A2D-EDCDEB60A870}"/>
              </a:ext>
            </a:extLst>
          </p:cNvPr>
          <p:cNvSpPr txBox="1"/>
          <p:nvPr/>
        </p:nvSpPr>
        <p:spPr>
          <a:xfrm>
            <a:off x="127481" y="3837065"/>
            <a:ext cx="4930902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GB" sz="16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Then compare holding just the underlying to holding underlying + collar.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875F1E5-AA89-B5C4-870E-3A934DDD4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21" y="4595071"/>
            <a:ext cx="3831853" cy="20254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387588-4A9B-98DF-3F18-9325DFAAD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621" y="4591957"/>
            <a:ext cx="1971675" cy="22336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B1BB551-D85C-D11D-4E1E-A816A5BEE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104" y="5011713"/>
            <a:ext cx="3722742" cy="184628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2B6288-1031-1AC1-7B93-76E8BB629DB4}"/>
              </a:ext>
            </a:extLst>
          </p:cNvPr>
          <p:cNvSpPr txBox="1"/>
          <p:nvPr/>
        </p:nvSpPr>
        <p:spPr>
          <a:xfrm>
            <a:off x="5944621" y="3917042"/>
            <a:ext cx="5570283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GB" sz="16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Simulated many times, I then examine the distribution of daily returns of both strategies and the payoff at maturity.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9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7E463-38C3-E444-F1F3-26CD9689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3AF76D2-A952-E98D-7743-884593A75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32" y="1089328"/>
            <a:ext cx="10987302" cy="55060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takeaways:</a:t>
            </a: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</a:pPr>
            <a:r>
              <a:rPr lang="en-GB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PRO’s: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Materially reduces drawdowns vs unhedged underlying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Reduces volatility (as seen by the narrower daily return distribution)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Eliminates left-tail risk</a:t>
            </a:r>
          </a:p>
          <a:p>
            <a:pPr lvl="0">
              <a:lnSpc>
                <a:spcPct val="115000"/>
              </a:lnSpc>
            </a:pPr>
            <a:endParaRPr lang="en-GB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</a:pPr>
            <a:r>
              <a:rPr lang="en-GB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CON’s: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Upside is capped.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Path dependency: I looked at simulations which all ended at near 100. While payoff at maturity was similar, their interim profits varied widely.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still make losses if fall is large enough. </a:t>
            </a:r>
          </a:p>
          <a:p>
            <a:pPr lvl="0">
              <a:lnSpc>
                <a:spcPct val="115000"/>
              </a:lnSpc>
            </a:pPr>
            <a:endParaRPr lang="en-GB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</a:pPr>
            <a:endParaRPr lang="en-GB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</a:pPr>
            <a:r>
              <a:rPr lang="en-GB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FUTURE WORK: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 a cross-hedge: Sell expensive Calls on one asset to buy cheaper Puts on another asset, but the assets are highly correlated anyway (especially downside correlation).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Optimal strategy for roll-overs: Wait for maturity or close and re-open options before  maturity?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GB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F45C76-1320-10DF-0FFE-674DA9286FA5}"/>
              </a:ext>
            </a:extLst>
          </p:cNvPr>
          <p:cNvCxnSpPr/>
          <p:nvPr/>
        </p:nvCxnSpPr>
        <p:spPr>
          <a:xfrm>
            <a:off x="273396" y="865762"/>
            <a:ext cx="11176059" cy="0"/>
          </a:xfrm>
          <a:prstGeom prst="line">
            <a:avLst/>
          </a:prstGeom>
          <a:ln w="349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684FD3D-1B93-9B76-F2B5-502746A5324A}"/>
              </a:ext>
            </a:extLst>
          </p:cNvPr>
          <p:cNvSpPr txBox="1"/>
          <p:nvPr/>
        </p:nvSpPr>
        <p:spPr>
          <a:xfrm>
            <a:off x="273396" y="144839"/>
            <a:ext cx="11342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STRUCTURED EQUITY DERIVATIVES – EQUITY COLLAR </a:t>
            </a:r>
          </a:p>
        </p:txBody>
      </p:sp>
    </p:spTree>
    <p:extLst>
      <p:ext uri="{BB962C8B-B14F-4D97-AF65-F5344CB8AC3E}">
        <p14:creationId xmlns:p14="http://schemas.microsoft.com/office/powerpoint/2010/main" val="157471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202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</vt:vector>
  </TitlesOfParts>
  <Company>Mondrian Investment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Veselinovich, Boris</dc:creator>
  <cp:lastModifiedBy>Veselinovich Kondrup</cp:lastModifiedBy>
  <cp:revision>7</cp:revision>
  <dcterms:created xsi:type="dcterms:W3CDTF">2026-10-02T15:15:56Z</dcterms:created>
  <dcterms:modified xsi:type="dcterms:W3CDTF">2026-10-03T10:26:34Z</dcterms:modified>
</cp:coreProperties>
</file>